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PT Serif" panose="020B0604020202020204" charset="0"/>
      <p:regular r:id="rId16"/>
    </p:embeddedFont>
    <p:embeddedFont>
      <p:font typeface="DM San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5" d="100"/>
          <a:sy n="35" d="100"/>
        </p:scale>
        <p:origin x="3156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234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315408"/>
            <a:ext cx="12954294" cy="95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Karamoja Crop Yield &amp; Population Analysis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144089"/>
            <a:ext cx="12296568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Tableau Data Visualization Project examining food security, production disparities, and population distribution across districts in the Karamoja region of Uganda.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22605" y="1326282"/>
            <a:ext cx="5614868" cy="7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52406" y="2912702"/>
            <a:ext cx="13189920" cy="1851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analysis evaluates population distribution and crop production across districts in the Karamoja region of Uganda 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50" dirty="0" smtClean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the country's most </a:t>
            </a:r>
            <a:r>
              <a:rPr lang="en-US" sz="1650" dirty="0" smtClean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food insecure 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zones </a:t>
            </a:r>
            <a:r>
              <a:rPr lang="en-US" sz="1650" dirty="0" smtClean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inform targeted planning and resource allocation.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87956" y="5195768"/>
            <a:ext cx="4216956" cy="2407920"/>
          </a:xfrm>
          <a:prstGeom prst="roundRect">
            <a:avLst>
              <a:gd name="adj" fmla="val 1332"/>
            </a:avLst>
          </a:prstGeom>
          <a:solidFill>
            <a:srgbClr val="F2EEEE"/>
          </a:solidFill>
          <a:ln/>
        </p:spPr>
      </p:sp>
      <p:sp>
        <p:nvSpPr>
          <p:cNvPr id="8" name="Text 4"/>
          <p:cNvSpPr/>
          <p:nvPr/>
        </p:nvSpPr>
        <p:spPr>
          <a:xfrm>
            <a:off x="1001792" y="6252924"/>
            <a:ext cx="2807375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Identify Disparities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01792" y="6724769"/>
            <a:ext cx="3789283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Reveal production imbalances across districts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5206603" y="5195768"/>
            <a:ext cx="4217075" cy="2407920"/>
          </a:xfrm>
          <a:prstGeom prst="roundRect">
            <a:avLst>
              <a:gd name="adj" fmla="val 1332"/>
            </a:avLst>
          </a:prstGeom>
          <a:solidFill>
            <a:srgbClr val="F2EEEE"/>
          </a:solidFill>
          <a:ln/>
        </p:spPr>
      </p:sp>
      <p:sp>
        <p:nvSpPr>
          <p:cNvPr id="13" name="Text 8"/>
          <p:cNvSpPr/>
          <p:nvPr/>
        </p:nvSpPr>
        <p:spPr>
          <a:xfrm>
            <a:off x="5420439" y="6252924"/>
            <a:ext cx="2807375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Evaluate Availability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5420439" y="6724769"/>
            <a:ext cx="3789402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food per capita at the district level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9625370" y="5195768"/>
            <a:ext cx="3549265" cy="2407920"/>
          </a:xfrm>
          <a:prstGeom prst="roundRect">
            <a:avLst>
              <a:gd name="adj" fmla="val 1332"/>
            </a:avLst>
          </a:prstGeom>
          <a:solidFill>
            <a:srgbClr val="F2EEEE"/>
          </a:solidFill>
          <a:ln/>
        </p:spPr>
      </p:sp>
      <p:sp>
        <p:nvSpPr>
          <p:cNvPr id="18" name="Text 12"/>
          <p:cNvSpPr/>
          <p:nvPr/>
        </p:nvSpPr>
        <p:spPr>
          <a:xfrm>
            <a:off x="9839206" y="6252924"/>
            <a:ext cx="2807375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Support Planning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9839206" y="6724769"/>
            <a:ext cx="3789283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 evidence-based regional interventions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690" y="720804"/>
            <a:ext cx="4534138" cy="566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Population by District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5690" y="1550550"/>
            <a:ext cx="13119021" cy="1041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Population is distributed unevenly across Karamoja's districts </a:t>
            </a:r>
            <a:r>
              <a:rPr lang="en-US" sz="1600" dirty="0" smtClean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 driver of food demand. Districts are ranked from highest to lowest population, revealing where pressure on food systems is most acute.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610" y="2592110"/>
            <a:ext cx="9368590" cy="5128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6612" y="417195"/>
            <a:ext cx="5697141" cy="48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Total Crop Production by District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16612" y="1093589"/>
            <a:ext cx="13456062" cy="1152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Crop production levels vary sharply across Karamoja. Districts are ranked in descending order of output, </a:t>
            </a:r>
            <a:endParaRPr lang="en-US" dirty="0" smtClean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exposing 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agricultural imbalances that do not always mirror population size.</a:t>
            </a: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1" y="2626976"/>
            <a:ext cx="9165587" cy="50169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690" y="720804"/>
            <a:ext cx="5453896" cy="566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Food per Person by District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5690" y="1550550"/>
            <a:ext cx="13119021" cy="91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Food per capita </a:t>
            </a:r>
            <a:r>
              <a:rPr lang="en-US" sz="1600" dirty="0" smtClean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crop production divided by population </a:t>
            </a:r>
            <a:r>
              <a:rPr lang="en-US" sz="1600" dirty="0" smtClean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most direct indicator of food security risk. Districts are ranked in descending order, with lower values signaling the greatest vulnerability.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526" y="3265878"/>
            <a:ext cx="7916485" cy="43332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690" y="720804"/>
            <a:ext cx="6294953" cy="566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Population vs. Crop Production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5690" y="1550551"/>
            <a:ext cx="13119021" cy="48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scatter plot tests whether larger populations correspond with greater crop output. The relationship reveals which districts punch above their weight — and which are critically underproducing relative to their population size.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652" y="2333030"/>
            <a:ext cx="7807022" cy="58551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84477" y="330241"/>
            <a:ext cx="5596652" cy="699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Findings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368842" y="2209562"/>
            <a:ext cx="7651671" cy="1603534"/>
          </a:xfrm>
          <a:prstGeom prst="roundRect">
            <a:avLst>
              <a:gd name="adj" fmla="val 684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73404" y="2445544"/>
            <a:ext cx="5607725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AAE4FE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Kaabong</a:t>
            </a: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— Highest Population &amp; Production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73404" y="2915364"/>
            <a:ext cx="7111127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Leads the region in both total population and absolute crop output, making it the agricultural anchor of Karamoja.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3368842" y="4013478"/>
            <a:ext cx="7651671" cy="1603534"/>
          </a:xfrm>
          <a:prstGeom prst="roundRect">
            <a:avLst>
              <a:gd name="adj" fmla="val 684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73404" y="4249460"/>
            <a:ext cx="5006816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7ADFD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Nakapiripirit</a:t>
            </a: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— Highest Food per Person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673404" y="4719280"/>
            <a:ext cx="7111127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Despite a smaller population, this district achieves the best food availability ratio — a model worth examining for scalable practices.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3368842" y="5817394"/>
            <a:ext cx="7651671" cy="1603534"/>
          </a:xfrm>
          <a:prstGeom prst="roundRect">
            <a:avLst>
              <a:gd name="adj" fmla="val 684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73404" y="6053375"/>
            <a:ext cx="598634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ACD0FE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Moroto</a:t>
            </a: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— Lowest Production &amp; Food per Person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673404" y="6523196"/>
            <a:ext cx="7111127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Critically underperforms on both production volume and per capita availability, representing the region's most acute food security risk.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6998"/>
            <a:ext cx="5656421" cy="706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Recommendations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63328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Evidence from this analysis points to four priority action areas for policymakers and development planners in Karamoja.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2752844"/>
            <a:ext cx="6419017" cy="1932861"/>
          </a:xfrm>
          <a:prstGeom prst="roundRect">
            <a:avLst>
              <a:gd name="adj" fmla="val 756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722364"/>
            <a:ext cx="6419017" cy="121920"/>
          </a:xfrm>
          <a:prstGeom prst="roundRect">
            <a:avLst>
              <a:gd name="adj" fmla="val 26512"/>
            </a:avLst>
          </a:prstGeom>
          <a:solidFill>
            <a:srgbClr val="E04F00"/>
          </a:solidFill>
          <a:ln/>
        </p:spPr>
      </p:sp>
      <p:sp>
        <p:nvSpPr>
          <p:cNvPr id="6" name="Shape 4"/>
          <p:cNvSpPr/>
          <p:nvPr/>
        </p:nvSpPr>
        <p:spPr>
          <a:xfrm>
            <a:off x="3680043" y="2429708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3873996" y="2591276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39654" y="3291483"/>
            <a:ext cx="4480084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Strengthen Agricultural Investment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39654" y="3767614"/>
            <a:ext cx="592728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Prioritize funding for inputs, extension services, and farmer training, especially in low-output districts.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417475" y="2752844"/>
            <a:ext cx="6419136" cy="1932861"/>
          </a:xfrm>
          <a:prstGeom prst="roundRect">
            <a:avLst>
              <a:gd name="adj" fmla="val 7569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417475" y="2722364"/>
            <a:ext cx="6419136" cy="121920"/>
          </a:xfrm>
          <a:prstGeom prst="roundRect">
            <a:avLst>
              <a:gd name="adj" fmla="val 26512"/>
            </a:avLst>
          </a:prstGeom>
          <a:solidFill>
            <a:srgbClr val="E04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03847" y="2429708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497800" y="2591276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63339" y="3291483"/>
            <a:ext cx="3419594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Improve Irrigation Systems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63339" y="3767614"/>
            <a:ext cx="592740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Karamoja's arid climate demands climate-resilient water infrastructure to reduce reliance on erratic rainfall.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93790" y="5213509"/>
            <a:ext cx="6419017" cy="2268974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93790" y="5183029"/>
            <a:ext cx="6419017" cy="121920"/>
          </a:xfrm>
          <a:prstGeom prst="roundRect">
            <a:avLst>
              <a:gd name="adj" fmla="val 26512"/>
            </a:avLst>
          </a:prstGeom>
          <a:solidFill>
            <a:srgbClr val="E04F00"/>
          </a:solidFill>
          <a:ln/>
        </p:spPr>
      </p:sp>
      <p:sp>
        <p:nvSpPr>
          <p:cNvPr id="18" name="Shape 16"/>
          <p:cNvSpPr/>
          <p:nvPr/>
        </p:nvSpPr>
        <p:spPr>
          <a:xfrm>
            <a:off x="3680043" y="4890373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3873996" y="5051941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39654" y="5752147"/>
            <a:ext cx="406384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Target Low-Performing Districts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39654" y="6228278"/>
            <a:ext cx="592728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interventions to Moroto and Amudat, where production deficits relative to population are most severe.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417475" y="5213509"/>
            <a:ext cx="6419136" cy="2268974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417475" y="5183029"/>
            <a:ext cx="6419136" cy="121920"/>
          </a:xfrm>
          <a:prstGeom prst="roundRect">
            <a:avLst>
              <a:gd name="adj" fmla="val 26512"/>
            </a:avLst>
          </a:prstGeom>
          <a:solidFill>
            <a:srgbClr val="E04F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03847" y="4890373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E04F00"/>
          </a:solidFill>
          <a:ln/>
        </p:spPr>
      </p:sp>
      <p:sp>
        <p:nvSpPr>
          <p:cNvPr id="25" name="Text 23"/>
          <p:cNvSpPr/>
          <p:nvPr/>
        </p:nvSpPr>
        <p:spPr>
          <a:xfrm>
            <a:off x="10497800" y="5051941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63339" y="5752147"/>
            <a:ext cx="3827978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Address Subcounty Disparities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663339" y="6228278"/>
            <a:ext cx="5927407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District-level data masks local variation — subcounty analysis is essential for precise, equitable resource distribution.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55727" y="871225"/>
            <a:ext cx="5060990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1427747" y="1419746"/>
            <a:ext cx="1092467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analysis reveals a critical mismatch between population pressure and agricultural productivity across Karamoja's districts. High population does not guarantee food </a:t>
            </a:r>
            <a:r>
              <a:rPr lang="en-US" dirty="0" smtClean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security; per 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capita production is the decisive metric.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1427747" y="2789679"/>
            <a:ext cx="9184401" cy="1682829"/>
          </a:xfrm>
          <a:prstGeom prst="roundRect">
            <a:avLst>
              <a:gd name="adj" fmla="val 1811"/>
            </a:avLst>
          </a:prstGeom>
          <a:solidFill>
            <a:srgbClr val="FFCDB3"/>
          </a:solidFill>
          <a:ln/>
        </p:spPr>
      </p:sp>
      <p:sp>
        <p:nvSpPr>
          <p:cNvPr id="7" name="Text 3"/>
          <p:cNvSpPr/>
          <p:nvPr/>
        </p:nvSpPr>
        <p:spPr>
          <a:xfrm>
            <a:off x="1764632" y="3001610"/>
            <a:ext cx="8654754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Tableau visualizations enabled rapid, </a:t>
            </a:r>
            <a:r>
              <a:rPr lang="en-US" dirty="0" smtClean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district level 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comparisons, reinforcing the value of </a:t>
            </a:r>
            <a:r>
              <a:rPr lang="en-US" dirty="0" smtClean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driven 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tools for regional food security planning. Sustained investment guided by this evidence can meaningfully reduce vulnerability across Karamoja.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1429848" y="4600184"/>
            <a:ext cx="3696295" cy="1655802"/>
          </a:xfrm>
          <a:prstGeom prst="roundRect">
            <a:avLst>
              <a:gd name="adj" fmla="val 1747"/>
            </a:avLst>
          </a:prstGeom>
          <a:solidFill>
            <a:srgbClr val="F2EEEE"/>
          </a:solidFill>
          <a:ln/>
        </p:spPr>
      </p:sp>
      <p:sp>
        <p:nvSpPr>
          <p:cNvPr id="9" name="Text 5"/>
          <p:cNvSpPr/>
          <p:nvPr/>
        </p:nvSpPr>
        <p:spPr>
          <a:xfrm>
            <a:off x="1965121" y="4770371"/>
            <a:ext cx="2859762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Disparities Are Structural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1965121" y="5184827"/>
            <a:ext cx="3310771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 gaps reflect deep infrastructure and investment deficits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586222" y="4570735"/>
            <a:ext cx="3696295" cy="1655802"/>
          </a:xfrm>
          <a:prstGeom prst="roundRect">
            <a:avLst>
              <a:gd name="adj" fmla="val 1747"/>
            </a:avLst>
          </a:prstGeom>
          <a:solidFill>
            <a:srgbClr val="F2EEEE"/>
          </a:solidFill>
          <a:ln/>
        </p:spPr>
      </p:sp>
      <p:sp>
        <p:nvSpPr>
          <p:cNvPr id="12" name="Text 8"/>
          <p:cNvSpPr/>
          <p:nvPr/>
        </p:nvSpPr>
        <p:spPr>
          <a:xfrm>
            <a:off x="5825246" y="4770371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Drives Action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825246" y="5184827"/>
            <a:ext cx="3310771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Visualization tools translate complexity into actionable policy insights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1427747" y="6461832"/>
            <a:ext cx="7556421" cy="1085255"/>
          </a:xfrm>
          <a:prstGeom prst="roundRect">
            <a:avLst>
              <a:gd name="adj" fmla="val 2665"/>
            </a:avLst>
          </a:prstGeom>
          <a:solidFill>
            <a:srgbClr val="F2EEEE"/>
          </a:solidFill>
          <a:ln/>
        </p:spPr>
      </p:sp>
      <p:sp>
        <p:nvSpPr>
          <p:cNvPr id="15" name="Text 11"/>
          <p:cNvSpPr/>
          <p:nvPr/>
        </p:nvSpPr>
        <p:spPr>
          <a:xfrm>
            <a:off x="1965121" y="6590003"/>
            <a:ext cx="3028593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Targeted Response Needed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1965121" y="7004460"/>
            <a:ext cx="717089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Blanket approaches will fail — precision planning by district is essential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530</Words>
  <Application>Microsoft Office PowerPoint</Application>
  <PresentationFormat>Custom</PresentationFormat>
  <Paragraphs>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PT Serif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PK</dc:creator>
  <cp:lastModifiedBy>Patrick Kathurima Kiruki</cp:lastModifiedBy>
  <cp:revision>10</cp:revision>
  <dcterms:created xsi:type="dcterms:W3CDTF">2026-02-22T19:01:23Z</dcterms:created>
  <dcterms:modified xsi:type="dcterms:W3CDTF">2026-02-22T19:17:38Z</dcterms:modified>
</cp:coreProperties>
</file>